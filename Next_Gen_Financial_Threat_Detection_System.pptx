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67" r:id="rId3"/>
    <p:sldId id="258" r:id="rId4"/>
    <p:sldId id="259" r:id="rId5"/>
    <p:sldId id="257" r:id="rId6"/>
    <p:sldId id="261" r:id="rId7"/>
    <p:sldId id="262" r:id="rId8"/>
    <p:sldId id="263" r:id="rId9"/>
    <p:sldId id="264" r:id="rId10"/>
    <p:sldId id="265" r:id="rId11"/>
    <p:sldId id="268" r:id="rId12"/>
    <p:sldId id="269" r:id="rId13"/>
    <p:sldId id="270" r:id="rId14"/>
    <p:sldId id="271" r:id="rId15"/>
    <p:sldId id="272" r:id="rId16"/>
    <p:sldId id="266"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MA G" userId="9fb25db4d73f7c3d" providerId="LiveId" clId="{87EA0ACE-2653-4934-BEE4-F8730D81CDA5}"/>
    <pc:docChg chg="undo redo custSel addSld modSld">
      <pc:chgData name="SUMA G" userId="9fb25db4d73f7c3d" providerId="LiveId" clId="{87EA0ACE-2653-4934-BEE4-F8730D81CDA5}" dt="2026-06-18T05:42:26.269" v="322" actId="1036"/>
      <pc:docMkLst>
        <pc:docMk/>
      </pc:docMkLst>
      <pc:sldChg chg="modSp mod">
        <pc:chgData name="SUMA G" userId="9fb25db4d73f7c3d" providerId="LiveId" clId="{87EA0ACE-2653-4934-BEE4-F8730D81CDA5}" dt="2026-06-18T05:39:46.762" v="321" actId="14734"/>
        <pc:sldMkLst>
          <pc:docMk/>
          <pc:sldMk cId="1818538095" sldId="259"/>
        </pc:sldMkLst>
        <pc:graphicFrameChg chg="modGraphic">
          <ac:chgData name="SUMA G" userId="9fb25db4d73f7c3d" providerId="LiveId" clId="{87EA0ACE-2653-4934-BEE4-F8730D81CDA5}" dt="2026-06-18T05:39:46.762" v="321" actId="14734"/>
          <ac:graphicFrameMkLst>
            <pc:docMk/>
            <pc:sldMk cId="1818538095" sldId="259"/>
            <ac:graphicFrameMk id="4" creationId="{FC0568DA-0DA1-3129-E272-A5BDE46F994B}"/>
          </ac:graphicFrameMkLst>
        </pc:graphicFrameChg>
      </pc:sldChg>
      <pc:sldChg chg="modSp mod">
        <pc:chgData name="SUMA G" userId="9fb25db4d73f7c3d" providerId="LiveId" clId="{87EA0ACE-2653-4934-BEE4-F8730D81CDA5}" dt="2026-06-18T05:39:07.289" v="319" actId="5793"/>
        <pc:sldMkLst>
          <pc:docMk/>
          <pc:sldMk cId="2248147345" sldId="267"/>
        </pc:sldMkLst>
        <pc:spChg chg="mod">
          <ac:chgData name="SUMA G" userId="9fb25db4d73f7c3d" providerId="LiveId" clId="{87EA0ACE-2653-4934-BEE4-F8730D81CDA5}" dt="2026-06-18T05:39:07.289" v="319" actId="5793"/>
          <ac:spMkLst>
            <pc:docMk/>
            <pc:sldMk cId="2248147345" sldId="267"/>
            <ac:spMk id="3" creationId="{B43C323B-C2E4-9BDF-0513-DF414BE275A4}"/>
          </ac:spMkLst>
        </pc:spChg>
      </pc:sldChg>
      <pc:sldChg chg="modSp mod">
        <pc:chgData name="SUMA G" userId="9fb25db4d73f7c3d" providerId="LiveId" clId="{87EA0ACE-2653-4934-BEE4-F8730D81CDA5}" dt="2026-06-18T05:42:26.269" v="322" actId="1036"/>
        <pc:sldMkLst>
          <pc:docMk/>
          <pc:sldMk cId="943634484" sldId="269"/>
        </pc:sldMkLst>
        <pc:picChg chg="mod">
          <ac:chgData name="SUMA G" userId="9fb25db4d73f7c3d" providerId="LiveId" clId="{87EA0ACE-2653-4934-BEE4-F8730D81CDA5}" dt="2026-06-18T05:42:26.269" v="322" actId="1036"/>
          <ac:picMkLst>
            <pc:docMk/>
            <pc:sldMk cId="943634484" sldId="269"/>
            <ac:picMk id="11" creationId="{24226643-5AC1-9E44-C04F-91201C251DFC}"/>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dirty="0"/>
              <a:t>6/18/2026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6/18/2026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6/18/2026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509A250-FF31-4206-8172-F9D3106AACB1}" type="datetimeFigureOut">
              <a:rPr lang="en-US" dirty="0"/>
              <a:t>6/18/2026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509A250-FF31-4206-8172-F9D3106AACB1}" type="datetimeFigureOut">
              <a:rPr lang="en-US" dirty="0"/>
              <a:t>6/18/2026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4509A250-FF31-4206-8172-F9D3106AACB1}" type="datetimeFigureOut">
              <a:rPr lang="en-US" dirty="0"/>
              <a:t>6/18/2026</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t>6/18/2026</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4"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4509A250-FF31-4206-8172-F9D3106AACB1}" type="datetimeFigureOut">
              <a:rPr lang="en-US" dirty="0"/>
              <a:t>6/18/2026</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6/18/2026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6/18/2026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6/18/2026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6/18/2026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
        <p:nvSpPr>
          <p:cNvPr id="9" name="TextBox 8"/>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
        <p:nvSpPr>
          <p:cNvPr id="13" name="TextBox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6/18/2026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6/18/2026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6/18/2026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6/18/2026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6/18/2026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509A250-FF31-4206-8172-F9D3106AACB1}" type="datetimeFigureOut">
              <a:rPr lang="en-US" dirty="0"/>
              <a:t>6/18/2026</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dirty="0"/>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64"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2F1E71-4CAC-58DC-7957-34C17335680B}"/>
              </a:ext>
            </a:extLst>
          </p:cNvPr>
          <p:cNvSpPr>
            <a:spLocks noGrp="1"/>
          </p:cNvSpPr>
          <p:nvPr>
            <p:ph type="ctrTitle"/>
          </p:nvPr>
        </p:nvSpPr>
        <p:spPr>
          <a:xfrm>
            <a:off x="975386" y="2059536"/>
            <a:ext cx="9316399" cy="1718187"/>
          </a:xfrm>
        </p:spPr>
        <p:txBody>
          <a:bodyPr/>
          <a:lstStyle/>
          <a:p>
            <a:r>
              <a:rPr lang="en-IN" sz="4800" b="1" dirty="0"/>
              <a:t>NEXT GENERATION FINANCIAL THREAT DETECTION SYSTEM</a:t>
            </a:r>
          </a:p>
        </p:txBody>
      </p:sp>
      <p:sp>
        <p:nvSpPr>
          <p:cNvPr id="3" name="Subtitle 2">
            <a:extLst>
              <a:ext uri="{FF2B5EF4-FFF2-40B4-BE49-F238E27FC236}">
                <a16:creationId xmlns:a16="http://schemas.microsoft.com/office/drawing/2014/main" id="{51217EFB-FC27-4A94-47A0-50890F8575DB}"/>
              </a:ext>
            </a:extLst>
          </p:cNvPr>
          <p:cNvSpPr>
            <a:spLocks noGrp="1"/>
          </p:cNvSpPr>
          <p:nvPr>
            <p:ph type="subTitle" idx="1"/>
          </p:nvPr>
        </p:nvSpPr>
        <p:spPr>
          <a:xfrm>
            <a:off x="7605769" y="3939370"/>
            <a:ext cx="3186523" cy="793955"/>
          </a:xfrm>
        </p:spPr>
        <p:txBody>
          <a:bodyPr>
            <a:normAutofit lnSpcReduction="10000"/>
          </a:bodyPr>
          <a:lstStyle/>
          <a:p>
            <a:r>
              <a:rPr lang="en-IN" cap="none" dirty="0"/>
              <a:t>Submitted By: Team-3</a:t>
            </a:r>
          </a:p>
          <a:p>
            <a:r>
              <a:rPr lang="en-IN" cap="none" dirty="0"/>
              <a:t>Date: 16/03/2026</a:t>
            </a:r>
          </a:p>
        </p:txBody>
      </p:sp>
    </p:spTree>
    <p:extLst>
      <p:ext uri="{BB962C8B-B14F-4D97-AF65-F5344CB8AC3E}">
        <p14:creationId xmlns:p14="http://schemas.microsoft.com/office/powerpoint/2010/main" val="9677057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C2D53-17E4-8A7D-08B7-B3B4849AA996}"/>
              </a:ext>
            </a:extLst>
          </p:cNvPr>
          <p:cNvSpPr>
            <a:spLocks noGrp="1"/>
          </p:cNvSpPr>
          <p:nvPr>
            <p:ph type="title"/>
          </p:nvPr>
        </p:nvSpPr>
        <p:spPr>
          <a:xfrm>
            <a:off x="646111" y="452718"/>
            <a:ext cx="9404723" cy="954977"/>
          </a:xfrm>
        </p:spPr>
        <p:txBody>
          <a:bodyPr/>
          <a:lstStyle/>
          <a:p>
            <a:r>
              <a:rPr lang="en-IN" b="1" dirty="0"/>
              <a:t>Table of contents</a:t>
            </a:r>
          </a:p>
        </p:txBody>
      </p:sp>
      <p:sp>
        <p:nvSpPr>
          <p:cNvPr id="3" name="Content Placeholder 2">
            <a:extLst>
              <a:ext uri="{FF2B5EF4-FFF2-40B4-BE49-F238E27FC236}">
                <a16:creationId xmlns:a16="http://schemas.microsoft.com/office/drawing/2014/main" id="{B43C323B-C2E4-9BDF-0513-DF414BE275A4}"/>
              </a:ext>
            </a:extLst>
          </p:cNvPr>
          <p:cNvSpPr>
            <a:spLocks noGrp="1"/>
          </p:cNvSpPr>
          <p:nvPr>
            <p:ph idx="1"/>
          </p:nvPr>
        </p:nvSpPr>
        <p:spPr>
          <a:xfrm>
            <a:off x="1103312" y="1407696"/>
            <a:ext cx="8946541" cy="4840704"/>
          </a:xfrm>
        </p:spPr>
        <p:txBody>
          <a:bodyPr>
            <a:normAutofit fontScale="85000" lnSpcReduction="20000"/>
          </a:bodyPr>
          <a:lstStyle/>
          <a:p>
            <a:r>
              <a:rPr lang="en-IN" sz="2800" dirty="0"/>
              <a:t>Introduction</a:t>
            </a:r>
          </a:p>
          <a:p>
            <a:r>
              <a:rPr lang="en-IN" sz="2800" dirty="0"/>
              <a:t>Literature survey</a:t>
            </a:r>
          </a:p>
          <a:p>
            <a:r>
              <a:rPr lang="en-IN" sz="2800" dirty="0"/>
              <a:t>Area &amp; Problem Statement</a:t>
            </a:r>
          </a:p>
          <a:p>
            <a:r>
              <a:rPr lang="en-IN" sz="2800" dirty="0"/>
              <a:t>Aim &amp; Objective</a:t>
            </a:r>
          </a:p>
          <a:p>
            <a:r>
              <a:rPr lang="en-IN" sz="2800" dirty="0"/>
              <a:t>Methodology</a:t>
            </a:r>
          </a:p>
          <a:p>
            <a:r>
              <a:rPr lang="en-IN" sz="2800" dirty="0"/>
              <a:t>System Architecture</a:t>
            </a:r>
          </a:p>
          <a:p>
            <a:r>
              <a:rPr lang="en-IN" sz="2800" dirty="0"/>
              <a:t>Implementation</a:t>
            </a:r>
          </a:p>
          <a:p>
            <a:r>
              <a:rPr lang="en-IN" sz="2800" dirty="0"/>
              <a:t>Technologies &amp; Algorithms Used</a:t>
            </a:r>
          </a:p>
          <a:p>
            <a:r>
              <a:rPr lang="en-IN" sz="2800" dirty="0"/>
              <a:t>Outcomes</a:t>
            </a:r>
          </a:p>
          <a:p>
            <a:r>
              <a:rPr lang="en-IN" sz="2800" dirty="0"/>
              <a:t>Results</a:t>
            </a:r>
          </a:p>
          <a:p>
            <a:r>
              <a:rPr lang="en-IN" sz="2800" dirty="0"/>
              <a:t>Conclusion</a:t>
            </a:r>
          </a:p>
          <a:p>
            <a:pPr marL="0" indent="0">
              <a:buNone/>
            </a:pPr>
            <a:endParaRPr lang="en-IN" dirty="0"/>
          </a:p>
        </p:txBody>
      </p:sp>
    </p:spTree>
    <p:extLst>
      <p:ext uri="{BB962C8B-B14F-4D97-AF65-F5344CB8AC3E}">
        <p14:creationId xmlns:p14="http://schemas.microsoft.com/office/powerpoint/2010/main" val="22481473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CB255-E232-0614-BFF2-EB6B2866BDB5}"/>
              </a:ext>
            </a:extLst>
          </p:cNvPr>
          <p:cNvSpPr>
            <a:spLocks noGrp="1"/>
          </p:cNvSpPr>
          <p:nvPr>
            <p:ph type="title"/>
          </p:nvPr>
        </p:nvSpPr>
        <p:spPr>
          <a:xfrm>
            <a:off x="645130" y="609601"/>
            <a:ext cx="9404723" cy="750440"/>
          </a:xfrm>
        </p:spPr>
        <p:txBody>
          <a:bodyPr/>
          <a:lstStyle/>
          <a:p>
            <a:r>
              <a:rPr lang="en-IN" b="1" dirty="0"/>
              <a:t>Introduction</a:t>
            </a:r>
          </a:p>
        </p:txBody>
      </p:sp>
      <p:sp>
        <p:nvSpPr>
          <p:cNvPr id="3" name="Content Placeholder 2">
            <a:extLst>
              <a:ext uri="{FF2B5EF4-FFF2-40B4-BE49-F238E27FC236}">
                <a16:creationId xmlns:a16="http://schemas.microsoft.com/office/drawing/2014/main" id="{0AA59F4B-BA0F-E7BE-F04F-8B85E16B75D9}"/>
              </a:ext>
            </a:extLst>
          </p:cNvPr>
          <p:cNvSpPr>
            <a:spLocks noGrp="1"/>
          </p:cNvSpPr>
          <p:nvPr>
            <p:ph idx="1"/>
          </p:nvPr>
        </p:nvSpPr>
        <p:spPr>
          <a:xfrm>
            <a:off x="1103312" y="1588168"/>
            <a:ext cx="8946541" cy="4660231"/>
          </a:xfrm>
        </p:spPr>
        <p:txBody>
          <a:bodyPr/>
          <a:lstStyle/>
          <a:p>
            <a:r>
              <a:rPr lang="en-GB" dirty="0"/>
              <a:t>The rapid growth of digital banking and online payment systems has increased the number of financial transactions worldwide.</a:t>
            </a:r>
          </a:p>
          <a:p>
            <a:r>
              <a:rPr lang="en-GB" dirty="0"/>
              <a:t>Along with this growth, financial fraud such as unauthorized transactions, identity theft, and cyber-attacks has also increased.</a:t>
            </a:r>
          </a:p>
          <a:p>
            <a:r>
              <a:rPr lang="en-GB" dirty="0"/>
              <a:t>Traditional fraud detection systems mainly use rule-based methods, which are not effective in detecting new fraud patterns.</a:t>
            </a:r>
          </a:p>
          <a:p>
            <a:r>
              <a:rPr lang="en-GB" dirty="0"/>
              <a:t>Machine Learning provides an intelligent approach to analyse transaction data and identify suspicious activities automatically.</a:t>
            </a:r>
          </a:p>
          <a:p>
            <a:r>
              <a:rPr lang="en-GB" dirty="0"/>
              <a:t>This project proposes a </a:t>
            </a:r>
            <a:r>
              <a:rPr lang="en-GB" b="1" dirty="0"/>
              <a:t>Next Generation Financial Threat Detection System</a:t>
            </a:r>
            <a:r>
              <a:rPr lang="en-GB" dirty="0"/>
              <a:t> that uses machine learning techniques to detect fraudulent financial transactions and improve financial security.</a:t>
            </a:r>
            <a:endParaRPr lang="en-IN" dirty="0"/>
          </a:p>
        </p:txBody>
      </p:sp>
    </p:spTree>
    <p:extLst>
      <p:ext uri="{BB962C8B-B14F-4D97-AF65-F5344CB8AC3E}">
        <p14:creationId xmlns:p14="http://schemas.microsoft.com/office/powerpoint/2010/main" val="29338424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905A7-513F-93D9-C228-3F3F6E9A9B5B}"/>
              </a:ext>
            </a:extLst>
          </p:cNvPr>
          <p:cNvSpPr>
            <a:spLocks noGrp="1"/>
          </p:cNvSpPr>
          <p:nvPr>
            <p:ph type="title"/>
          </p:nvPr>
        </p:nvSpPr>
        <p:spPr>
          <a:xfrm>
            <a:off x="645740" y="115666"/>
            <a:ext cx="9404723" cy="750440"/>
          </a:xfrm>
        </p:spPr>
        <p:txBody>
          <a:bodyPr/>
          <a:lstStyle/>
          <a:p>
            <a:r>
              <a:rPr lang="en-IN" sz="4000" b="1" dirty="0"/>
              <a:t>Literature Survey</a:t>
            </a:r>
          </a:p>
        </p:txBody>
      </p:sp>
      <p:graphicFrame>
        <p:nvGraphicFramePr>
          <p:cNvPr id="4" name="Content Placeholder 3">
            <a:extLst>
              <a:ext uri="{FF2B5EF4-FFF2-40B4-BE49-F238E27FC236}">
                <a16:creationId xmlns:a16="http://schemas.microsoft.com/office/drawing/2014/main" id="{FC0568DA-0DA1-3129-E272-A5BDE46F994B}"/>
              </a:ext>
            </a:extLst>
          </p:cNvPr>
          <p:cNvGraphicFramePr>
            <a:graphicFrameLocks noGrp="1"/>
          </p:cNvGraphicFramePr>
          <p:nvPr>
            <p:ph idx="1"/>
            <p:extLst>
              <p:ext uri="{D42A27DB-BD31-4B8C-83A1-F6EECF244321}">
                <p14:modId xmlns:p14="http://schemas.microsoft.com/office/powerpoint/2010/main" val="3086029266"/>
              </p:ext>
            </p:extLst>
          </p:nvPr>
        </p:nvGraphicFramePr>
        <p:xfrm>
          <a:off x="491612" y="866107"/>
          <a:ext cx="11375923" cy="5597136"/>
        </p:xfrm>
        <a:graphic>
          <a:graphicData uri="http://schemas.openxmlformats.org/drawingml/2006/table">
            <a:tbl>
              <a:tblPr firstRow="1" bandRow="1">
                <a:tableStyleId>{ED083AE6-46FA-4A59-8FB0-9F97EB10719F}</a:tableStyleId>
              </a:tblPr>
              <a:tblGrid>
                <a:gridCol w="2299714">
                  <a:extLst>
                    <a:ext uri="{9D8B030D-6E8A-4147-A177-3AD203B41FA5}">
                      <a16:colId xmlns:a16="http://schemas.microsoft.com/office/drawing/2014/main" val="981807778"/>
                    </a:ext>
                  </a:extLst>
                </a:gridCol>
                <a:gridCol w="914400">
                  <a:extLst>
                    <a:ext uri="{9D8B030D-6E8A-4147-A177-3AD203B41FA5}">
                      <a16:colId xmlns:a16="http://schemas.microsoft.com/office/drawing/2014/main" val="2242516392"/>
                    </a:ext>
                  </a:extLst>
                </a:gridCol>
                <a:gridCol w="2744235">
                  <a:extLst>
                    <a:ext uri="{9D8B030D-6E8A-4147-A177-3AD203B41FA5}">
                      <a16:colId xmlns:a16="http://schemas.microsoft.com/office/drawing/2014/main" val="2728444500"/>
                    </a:ext>
                  </a:extLst>
                </a:gridCol>
                <a:gridCol w="2831691">
                  <a:extLst>
                    <a:ext uri="{9D8B030D-6E8A-4147-A177-3AD203B41FA5}">
                      <a16:colId xmlns:a16="http://schemas.microsoft.com/office/drawing/2014/main" val="654249214"/>
                    </a:ext>
                  </a:extLst>
                </a:gridCol>
                <a:gridCol w="2585883">
                  <a:extLst>
                    <a:ext uri="{9D8B030D-6E8A-4147-A177-3AD203B41FA5}">
                      <a16:colId xmlns:a16="http://schemas.microsoft.com/office/drawing/2014/main" val="1900930218"/>
                    </a:ext>
                  </a:extLst>
                </a:gridCol>
              </a:tblGrid>
              <a:tr h="503806">
                <a:tc>
                  <a:txBody>
                    <a:bodyPr/>
                    <a:lstStyle/>
                    <a:p>
                      <a:r>
                        <a:rPr lang="en-IN" sz="1400" dirty="0"/>
                        <a:t>Paper Title</a:t>
                      </a:r>
                    </a:p>
                  </a:txBody>
                  <a:tcPr/>
                </a:tc>
                <a:tc>
                  <a:txBody>
                    <a:bodyPr/>
                    <a:lstStyle/>
                    <a:p>
                      <a:r>
                        <a:rPr lang="en-IN" sz="1400" dirty="0"/>
                        <a:t>Year</a:t>
                      </a:r>
                    </a:p>
                  </a:txBody>
                  <a:tcPr/>
                </a:tc>
                <a:tc>
                  <a:txBody>
                    <a:bodyPr/>
                    <a:lstStyle/>
                    <a:p>
                      <a:r>
                        <a:rPr lang="en-IN" sz="1400" dirty="0"/>
                        <a:t>Pros</a:t>
                      </a:r>
                    </a:p>
                  </a:txBody>
                  <a:tcPr/>
                </a:tc>
                <a:tc>
                  <a:txBody>
                    <a:bodyPr/>
                    <a:lstStyle/>
                    <a:p>
                      <a:r>
                        <a:rPr lang="en-IN" sz="1400" dirty="0"/>
                        <a:t>Cons</a:t>
                      </a:r>
                    </a:p>
                  </a:txBody>
                  <a:tcPr/>
                </a:tc>
                <a:tc>
                  <a:txBody>
                    <a:bodyPr/>
                    <a:lstStyle/>
                    <a:p>
                      <a:r>
                        <a:rPr lang="en-IN" sz="1400" dirty="0"/>
                        <a:t>Research Gap (Why Our project is needed)</a:t>
                      </a:r>
                    </a:p>
                  </a:txBody>
                  <a:tcPr/>
                </a:tc>
                <a:extLst>
                  <a:ext uri="{0D108BD9-81ED-4DB2-BD59-A6C34878D82A}">
                    <a16:rowId xmlns:a16="http://schemas.microsoft.com/office/drawing/2014/main" val="1620266978"/>
                  </a:ext>
                </a:extLst>
              </a:tr>
              <a:tr h="1126156">
                <a:tc>
                  <a:txBody>
                    <a:bodyPr/>
                    <a:lstStyle/>
                    <a:p>
                      <a:r>
                        <a:rPr lang="en-GB" sz="1400" dirty="0"/>
                        <a:t>Credit Card Fraud Detection with Subspace Learning-based One-Class Classification</a:t>
                      </a:r>
                      <a:endParaRPr lang="en-IN" sz="1400" dirty="0"/>
                    </a:p>
                  </a:txBody>
                  <a:tcPr/>
                </a:tc>
                <a:tc>
                  <a:txBody>
                    <a:bodyPr/>
                    <a:lstStyle/>
                    <a:p>
                      <a:r>
                        <a:rPr lang="en-IN" sz="1400" dirty="0"/>
                        <a:t>2023</a:t>
                      </a:r>
                    </a:p>
                  </a:txBody>
                  <a:tcPr/>
                </a:tc>
                <a:tc>
                  <a:txBody>
                    <a:bodyPr/>
                    <a:lstStyle/>
                    <a:p>
                      <a:r>
                        <a:rPr lang="en-GB" sz="1400" dirty="0"/>
                        <a:t>Handles highly imbalanced datasets and improves detection of rare fraud cases.</a:t>
                      </a:r>
                      <a:endParaRPr lang="en-IN" sz="1400" dirty="0"/>
                    </a:p>
                  </a:txBody>
                  <a:tcPr/>
                </a:tc>
                <a:tc>
                  <a:txBody>
                    <a:bodyPr/>
                    <a:lstStyle/>
                    <a:p>
                      <a:r>
                        <a:rPr lang="en-GB" sz="1400" dirty="0"/>
                        <a:t>Limited evaluation in real-world financial transaction environments.</a:t>
                      </a:r>
                      <a:endParaRPr lang="en-IN" sz="1400" dirty="0"/>
                    </a:p>
                  </a:txBody>
                  <a:tcPr/>
                </a:tc>
                <a:tc>
                  <a:txBody>
                    <a:bodyPr/>
                    <a:lstStyle/>
                    <a:p>
                      <a:r>
                        <a:rPr lang="en-GB" sz="1400" dirty="0"/>
                        <a:t>Does not incorporate user behavior analysis or multi-source data.</a:t>
                      </a:r>
                      <a:endParaRPr lang="en-IN" sz="1400" dirty="0"/>
                    </a:p>
                  </a:txBody>
                  <a:tcPr/>
                </a:tc>
                <a:extLst>
                  <a:ext uri="{0D108BD9-81ED-4DB2-BD59-A6C34878D82A}">
                    <a16:rowId xmlns:a16="http://schemas.microsoft.com/office/drawing/2014/main" val="1252044066"/>
                  </a:ext>
                </a:extLst>
              </a:tr>
              <a:tr h="991952">
                <a:tc>
                  <a:txBody>
                    <a:bodyPr/>
                    <a:lstStyle/>
                    <a:p>
                      <a:r>
                        <a:rPr lang="en-GB" sz="1400" dirty="0"/>
                        <a:t>Enhancing Credit Card Fraud Detection using Neural Network and SMOTE</a:t>
                      </a:r>
                      <a:endParaRPr lang="en-IN" sz="1400" dirty="0"/>
                    </a:p>
                  </a:txBody>
                  <a:tcPr/>
                </a:tc>
                <a:tc>
                  <a:txBody>
                    <a:bodyPr/>
                    <a:lstStyle/>
                    <a:p>
                      <a:r>
                        <a:rPr lang="en-IN" sz="1400" dirty="0"/>
                        <a:t>2024</a:t>
                      </a:r>
                    </a:p>
                  </a:txBody>
                  <a:tcPr/>
                </a:tc>
                <a:tc>
                  <a:txBody>
                    <a:bodyPr/>
                    <a:lstStyle/>
                    <a:p>
                      <a:r>
                        <a:rPr lang="en-GB" sz="1400" dirty="0"/>
                        <a:t>Improves detection accuracy by balancing datasets using </a:t>
                      </a:r>
                      <a:r>
                        <a:rPr lang="en-GB" sz="1400" b="1" dirty="0"/>
                        <a:t>SMOTE</a:t>
                      </a:r>
                      <a:r>
                        <a:rPr lang="en-GB" sz="1400" dirty="0"/>
                        <a:t> technique.</a:t>
                      </a:r>
                      <a:endParaRPr lang="en-IN" sz="1400" dirty="0"/>
                    </a:p>
                  </a:txBody>
                  <a:tcPr/>
                </a:tc>
                <a:tc>
                  <a:txBody>
                    <a:bodyPr/>
                    <a:lstStyle/>
                    <a:p>
                      <a:r>
                        <a:rPr lang="en-GB" sz="1400" dirty="0"/>
                        <a:t>Oversampling methods may generate synthetic data that does not reflect real fraud patterns.</a:t>
                      </a:r>
                      <a:endParaRPr lang="en-IN" sz="1400" dirty="0"/>
                    </a:p>
                  </a:txBody>
                  <a:tcPr/>
                </a:tc>
                <a:tc>
                  <a:txBody>
                    <a:bodyPr/>
                    <a:lstStyle/>
                    <a:p>
                      <a:r>
                        <a:rPr lang="en-GB" sz="1400" dirty="0"/>
                        <a:t>Does not address dynamic fraud detection and online transaction monitoring.</a:t>
                      </a:r>
                      <a:endParaRPr lang="en-IN" sz="1400" dirty="0"/>
                    </a:p>
                  </a:txBody>
                  <a:tcPr/>
                </a:tc>
                <a:extLst>
                  <a:ext uri="{0D108BD9-81ED-4DB2-BD59-A6C34878D82A}">
                    <a16:rowId xmlns:a16="http://schemas.microsoft.com/office/drawing/2014/main" val="2882832076"/>
                  </a:ext>
                </a:extLst>
              </a:tr>
              <a:tr h="991952">
                <a:tc>
                  <a:txBody>
                    <a:bodyPr/>
                    <a:lstStyle/>
                    <a:p>
                      <a:r>
                        <a:rPr lang="en-GB" sz="1400" dirty="0"/>
                        <a:t>Securing Transactions: Hybrid Ensemble ML Model for Fraud Detection</a:t>
                      </a:r>
                      <a:endParaRPr lang="en-IN" sz="1400" dirty="0"/>
                    </a:p>
                  </a:txBody>
                  <a:tcPr/>
                </a:tc>
                <a:tc>
                  <a:txBody>
                    <a:bodyPr/>
                    <a:lstStyle/>
                    <a:p>
                      <a:r>
                        <a:rPr lang="en-IN" sz="1400" dirty="0"/>
                        <a:t>2024</a:t>
                      </a:r>
                    </a:p>
                  </a:txBody>
                  <a:tcPr/>
                </a:tc>
                <a:tc>
                  <a:txBody>
                    <a:bodyPr/>
                    <a:lstStyle/>
                    <a:p>
                      <a:r>
                        <a:rPr lang="en-GB" sz="1400" dirty="0"/>
                        <a:t>Uses hybrid ensemble models combining several ML algorithms to improve accuracy.</a:t>
                      </a:r>
                      <a:endParaRPr lang="en-IN" sz="1400" dirty="0"/>
                    </a:p>
                  </a:txBody>
                  <a:tcPr/>
                </a:tc>
                <a:tc>
                  <a:txBody>
                    <a:bodyPr/>
                    <a:lstStyle/>
                    <a:p>
                      <a:r>
                        <a:rPr lang="en-GB" sz="1400" dirty="0"/>
                        <a:t>High model complexity and difficult deployment in large-scale systems.</a:t>
                      </a:r>
                      <a:endParaRPr lang="en-IN" sz="1400" dirty="0"/>
                    </a:p>
                  </a:txBody>
                  <a:tcPr/>
                </a:tc>
                <a:tc>
                  <a:txBody>
                    <a:bodyPr/>
                    <a:lstStyle/>
                    <a:p>
                      <a:r>
                        <a:rPr lang="en-GB" sz="1400" dirty="0"/>
                        <a:t>Needs scalable architecture and real-time fraud prediction capabilities.</a:t>
                      </a:r>
                      <a:endParaRPr lang="en-IN" sz="1400" dirty="0"/>
                    </a:p>
                  </a:txBody>
                  <a:tcPr/>
                </a:tc>
                <a:extLst>
                  <a:ext uri="{0D108BD9-81ED-4DB2-BD59-A6C34878D82A}">
                    <a16:rowId xmlns:a16="http://schemas.microsoft.com/office/drawing/2014/main" val="1180873880"/>
                  </a:ext>
                </a:extLst>
              </a:tr>
              <a:tr h="991952">
                <a:tc>
                  <a:txBody>
                    <a:bodyPr/>
                    <a:lstStyle/>
                    <a:p>
                      <a:r>
                        <a:rPr lang="en-GB" sz="1400" dirty="0"/>
                        <a:t>Heterogeneous Graph Auto-Encoder for Credit Card Fraud Detection</a:t>
                      </a:r>
                      <a:endParaRPr lang="en-IN" sz="1400" dirty="0"/>
                    </a:p>
                  </a:txBody>
                  <a:tcPr/>
                </a:tc>
                <a:tc>
                  <a:txBody>
                    <a:bodyPr/>
                    <a:lstStyle/>
                    <a:p>
                      <a:r>
                        <a:rPr lang="en-IN" sz="1400" dirty="0"/>
                        <a:t>2024</a:t>
                      </a:r>
                    </a:p>
                  </a:txBody>
                  <a:tcPr/>
                </a:tc>
                <a:tc>
                  <a:txBody>
                    <a:bodyPr/>
                    <a:lstStyle/>
                    <a:p>
                      <a:r>
                        <a:rPr lang="en-GB" sz="1400" dirty="0"/>
                        <a:t>Uses </a:t>
                      </a:r>
                      <a:r>
                        <a:rPr lang="en-GB" sz="1400" b="1" dirty="0"/>
                        <a:t>Graph Neural Networks </a:t>
                      </a:r>
                      <a:r>
                        <a:rPr lang="en-GB" sz="1400" dirty="0"/>
                        <a:t>to capture relationships  between transactions, users, and merchants.</a:t>
                      </a:r>
                      <a:endParaRPr lang="en-IN" sz="1400" dirty="0"/>
                    </a:p>
                  </a:txBody>
                  <a:tcPr/>
                </a:tc>
                <a:tc>
                  <a:txBody>
                    <a:bodyPr/>
                    <a:lstStyle/>
                    <a:p>
                      <a:r>
                        <a:rPr lang="en-GB" sz="1400" dirty="0"/>
                        <a:t>Graph models require large structured datasets and complex computation.</a:t>
                      </a:r>
                      <a:endParaRPr lang="en-IN" sz="1400" dirty="0"/>
                    </a:p>
                  </a:txBody>
                  <a:tcPr/>
                </a:tc>
                <a:tc>
                  <a:txBody>
                    <a:bodyPr/>
                    <a:lstStyle/>
                    <a:p>
                      <a:r>
                        <a:rPr lang="en-GB" sz="1400" dirty="0"/>
                        <a:t>Lack of integration with user behavioral analytics and explainable Al systems.</a:t>
                      </a:r>
                      <a:endParaRPr lang="en-IN" sz="1400" dirty="0"/>
                    </a:p>
                  </a:txBody>
                  <a:tcPr/>
                </a:tc>
                <a:extLst>
                  <a:ext uri="{0D108BD9-81ED-4DB2-BD59-A6C34878D82A}">
                    <a16:rowId xmlns:a16="http://schemas.microsoft.com/office/drawing/2014/main" val="1743889647"/>
                  </a:ext>
                </a:extLst>
              </a:tr>
              <a:tr h="843108">
                <a:tc>
                  <a:txBody>
                    <a:bodyPr/>
                    <a:lstStyle/>
                    <a:p>
                      <a:r>
                        <a:rPr lang="en-GB" sz="1400" dirty="0"/>
                        <a:t>A Comparative Study of ML Models for Credit Card Fraud Detection</a:t>
                      </a:r>
                      <a:endParaRPr lang="en-IN" sz="1400" dirty="0"/>
                    </a:p>
                  </a:txBody>
                  <a:tcPr/>
                </a:tc>
                <a:tc>
                  <a:txBody>
                    <a:bodyPr/>
                    <a:lstStyle/>
                    <a:p>
                      <a:r>
                        <a:rPr lang="en-IN" sz="1400" dirty="0"/>
                        <a:t>2025</a:t>
                      </a:r>
                    </a:p>
                  </a:txBody>
                  <a:tcPr/>
                </a:tc>
                <a:tc>
                  <a:txBody>
                    <a:bodyPr/>
                    <a:lstStyle/>
                    <a:p>
                      <a:r>
                        <a:rPr lang="en-GB" sz="1400" dirty="0"/>
                        <a:t>Compares multiple ML models such as SVM, Random Forest, and Neural Networks.</a:t>
                      </a:r>
                      <a:endParaRPr lang="en-IN" sz="1400" dirty="0"/>
                    </a:p>
                  </a:txBody>
                  <a:tcPr/>
                </a:tc>
                <a:tc>
                  <a:txBody>
                    <a:bodyPr/>
                    <a:lstStyle/>
                    <a:p>
                      <a:r>
                        <a:rPr lang="en-GB" sz="1400" dirty="0"/>
                        <a:t>Focuses on model comparison rather than building a full fraud detection system.</a:t>
                      </a:r>
                      <a:endParaRPr lang="en-IN" sz="1400" dirty="0"/>
                    </a:p>
                  </a:txBody>
                  <a:tcPr/>
                </a:tc>
                <a:tc>
                  <a:txBody>
                    <a:bodyPr/>
                    <a:lstStyle/>
                    <a:p>
                      <a:r>
                        <a:rPr lang="en-GB" sz="1400" dirty="0"/>
                        <a:t>Lacks a practical framework for real-time fraud monitoring.</a:t>
                      </a:r>
                      <a:endParaRPr lang="en-IN" sz="1400" dirty="0"/>
                    </a:p>
                  </a:txBody>
                  <a:tcPr/>
                </a:tc>
                <a:extLst>
                  <a:ext uri="{0D108BD9-81ED-4DB2-BD59-A6C34878D82A}">
                    <a16:rowId xmlns:a16="http://schemas.microsoft.com/office/drawing/2014/main" val="638413364"/>
                  </a:ext>
                </a:extLst>
              </a:tr>
            </a:tbl>
          </a:graphicData>
        </a:graphic>
      </p:graphicFrame>
    </p:spTree>
    <p:extLst>
      <p:ext uri="{BB962C8B-B14F-4D97-AF65-F5344CB8AC3E}">
        <p14:creationId xmlns:p14="http://schemas.microsoft.com/office/powerpoint/2010/main" val="18185380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542DC8-E867-4339-1BF0-5BDFBB0FE685}"/>
              </a:ext>
            </a:extLst>
          </p:cNvPr>
          <p:cNvSpPr>
            <a:spLocks noGrp="1"/>
          </p:cNvSpPr>
          <p:nvPr>
            <p:ph type="title"/>
          </p:nvPr>
        </p:nvSpPr>
        <p:spPr>
          <a:xfrm>
            <a:off x="646111" y="452718"/>
            <a:ext cx="9404723" cy="878777"/>
          </a:xfrm>
        </p:spPr>
        <p:txBody>
          <a:bodyPr/>
          <a:lstStyle/>
          <a:p>
            <a:r>
              <a:rPr lang="en-IN" b="1" dirty="0"/>
              <a:t>Area &amp; Problem Statement</a:t>
            </a:r>
            <a:r>
              <a:rPr lang="en-IN" dirty="0"/>
              <a:t>:</a:t>
            </a:r>
          </a:p>
        </p:txBody>
      </p:sp>
      <p:sp>
        <p:nvSpPr>
          <p:cNvPr id="3" name="Content Placeholder 2">
            <a:extLst>
              <a:ext uri="{FF2B5EF4-FFF2-40B4-BE49-F238E27FC236}">
                <a16:creationId xmlns:a16="http://schemas.microsoft.com/office/drawing/2014/main" id="{0E99CBD9-8803-5A0B-6DB5-3FFB22E86540}"/>
              </a:ext>
            </a:extLst>
          </p:cNvPr>
          <p:cNvSpPr>
            <a:spLocks noGrp="1"/>
          </p:cNvSpPr>
          <p:nvPr>
            <p:ph idx="1"/>
          </p:nvPr>
        </p:nvSpPr>
        <p:spPr>
          <a:xfrm>
            <a:off x="1103312" y="1331496"/>
            <a:ext cx="9594185" cy="4916904"/>
          </a:xfrm>
        </p:spPr>
        <p:txBody>
          <a:bodyPr>
            <a:normAutofit/>
          </a:bodyPr>
          <a:lstStyle/>
          <a:p>
            <a:r>
              <a:rPr lang="en-GB" b="1" u="sng" dirty="0"/>
              <a:t>Area of the Project</a:t>
            </a:r>
            <a:r>
              <a:rPr lang="en-GB" dirty="0"/>
              <a:t>:</a:t>
            </a:r>
          </a:p>
          <a:p>
            <a:pPr marL="400050" lvl="1" indent="0">
              <a:buNone/>
            </a:pPr>
            <a:r>
              <a:rPr lang="en-GB" sz="2000" dirty="0"/>
              <a:t>This project falls under the fields of </a:t>
            </a:r>
            <a:r>
              <a:rPr lang="en-GB" sz="2000" b="1" dirty="0"/>
              <a:t>Machine Learning</a:t>
            </a:r>
            <a:r>
              <a:rPr lang="en-GB" sz="2000" dirty="0"/>
              <a:t>, </a:t>
            </a:r>
            <a:r>
              <a:rPr lang="en-GB" sz="2000" b="1" dirty="0"/>
              <a:t>Data Science</a:t>
            </a:r>
            <a:r>
              <a:rPr lang="en-GB" sz="2000" dirty="0"/>
              <a:t>, and </a:t>
            </a:r>
            <a:r>
              <a:rPr lang="en-GB" sz="2000" b="1" dirty="0"/>
              <a:t>Financial Technology (FinTech)</a:t>
            </a:r>
            <a:r>
              <a:rPr lang="en-GB" sz="2000" dirty="0"/>
              <a:t>. It focuses on using machine learning algorithms to analyze financial transaction data and detect fraudulent activities in digital payment systems such as online banking, credit cards, and mobile payments.</a:t>
            </a:r>
          </a:p>
          <a:p>
            <a:pPr marL="400050" lvl="1" indent="0">
              <a:buNone/>
            </a:pPr>
            <a:endParaRPr lang="en-GB" sz="2000" dirty="0"/>
          </a:p>
          <a:p>
            <a:r>
              <a:rPr lang="en-GB" b="1" u="sng" dirty="0"/>
              <a:t>Problem Statement</a:t>
            </a:r>
            <a:r>
              <a:rPr lang="en-GB" dirty="0"/>
              <a:t>:</a:t>
            </a:r>
          </a:p>
          <a:p>
            <a:pPr marL="400050" lvl="1" indent="0">
              <a:buNone/>
            </a:pPr>
            <a:r>
              <a:rPr lang="en-GB" sz="2000" dirty="0"/>
              <a:t>Traditional fraud detection systems are rule-based and depend on predefined conditions. These systems cannot easily detect new fraud patterns. Therefore, an intelligent system is required that can analyze transaction data and identify suspicious activities automatically.</a:t>
            </a:r>
            <a:endParaRPr lang="en-IN" sz="2000" dirty="0"/>
          </a:p>
        </p:txBody>
      </p:sp>
    </p:spTree>
    <p:extLst>
      <p:ext uri="{BB962C8B-B14F-4D97-AF65-F5344CB8AC3E}">
        <p14:creationId xmlns:p14="http://schemas.microsoft.com/office/powerpoint/2010/main" val="26744878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11E75-CAF2-9BFE-7F45-4585762DF36C}"/>
              </a:ext>
            </a:extLst>
          </p:cNvPr>
          <p:cNvSpPr>
            <a:spLocks noGrp="1"/>
          </p:cNvSpPr>
          <p:nvPr>
            <p:ph type="title"/>
          </p:nvPr>
        </p:nvSpPr>
        <p:spPr>
          <a:xfrm>
            <a:off x="646111" y="452718"/>
            <a:ext cx="9404723" cy="942945"/>
          </a:xfrm>
        </p:spPr>
        <p:txBody>
          <a:bodyPr/>
          <a:lstStyle/>
          <a:p>
            <a:r>
              <a:rPr lang="en-IN" b="1" dirty="0"/>
              <a:t>Aim &amp; Objectives</a:t>
            </a:r>
            <a:endParaRPr lang="en-IN" dirty="0"/>
          </a:p>
        </p:txBody>
      </p:sp>
      <p:sp>
        <p:nvSpPr>
          <p:cNvPr id="3" name="Content Placeholder 2">
            <a:extLst>
              <a:ext uri="{FF2B5EF4-FFF2-40B4-BE49-F238E27FC236}">
                <a16:creationId xmlns:a16="http://schemas.microsoft.com/office/drawing/2014/main" id="{B4B9801E-DB5A-E4AF-2E28-B1C9D9C60463}"/>
              </a:ext>
            </a:extLst>
          </p:cNvPr>
          <p:cNvSpPr>
            <a:spLocks noGrp="1"/>
          </p:cNvSpPr>
          <p:nvPr>
            <p:ph idx="1"/>
          </p:nvPr>
        </p:nvSpPr>
        <p:spPr>
          <a:xfrm>
            <a:off x="733926" y="1179095"/>
            <a:ext cx="10575758" cy="5069305"/>
          </a:xfrm>
        </p:spPr>
        <p:txBody>
          <a:bodyPr>
            <a:normAutofit lnSpcReduction="10000"/>
          </a:bodyPr>
          <a:lstStyle/>
          <a:p>
            <a:r>
              <a:rPr lang="en-IN" b="1" u="sng" dirty="0"/>
              <a:t>Aim</a:t>
            </a:r>
            <a:r>
              <a:rPr lang="en-IN" b="1" dirty="0"/>
              <a:t>:</a:t>
            </a:r>
          </a:p>
          <a:p>
            <a:pPr marL="0" indent="0">
              <a:buNone/>
            </a:pPr>
            <a:r>
              <a:rPr lang="en-IN" dirty="0"/>
              <a:t>	To </a:t>
            </a:r>
            <a:r>
              <a:rPr lang="en-GB" dirty="0"/>
              <a:t>develop a </a:t>
            </a:r>
            <a:r>
              <a:rPr lang="en-GB" b="1" dirty="0"/>
              <a:t>Next Generation Financial Threat Detection System</a:t>
            </a:r>
            <a:r>
              <a:rPr lang="en-GB" dirty="0"/>
              <a:t> using machine 	learning techniques to identify and prevent fraudulent financial transactions 	across digital payment platforms.</a:t>
            </a:r>
          </a:p>
          <a:p>
            <a:pPr marL="400050" lvl="1" indent="0">
              <a:buNone/>
            </a:pPr>
            <a:endParaRPr lang="en-IN" dirty="0"/>
          </a:p>
          <a:p>
            <a:r>
              <a:rPr lang="en-IN" b="1" u="sng" dirty="0"/>
              <a:t>Objectives</a:t>
            </a:r>
            <a:r>
              <a:rPr lang="en-IN" b="1" dirty="0"/>
              <a:t>:</a:t>
            </a:r>
          </a:p>
          <a:p>
            <a:pPr marL="457200" indent="-457200">
              <a:buFont typeface="+mj-lt"/>
              <a:buAutoNum type="arabicPeriod"/>
            </a:pPr>
            <a:r>
              <a:rPr lang="en-GB" dirty="0"/>
              <a:t>To analyze financial transaction data to identify patterns related to fraudulent activities.</a:t>
            </a:r>
          </a:p>
          <a:p>
            <a:pPr marL="457200" indent="-457200">
              <a:buFont typeface="+mj-lt"/>
              <a:buAutoNum type="arabicPeriod"/>
            </a:pPr>
            <a:r>
              <a:rPr lang="en-GB" dirty="0"/>
              <a:t>To develop a machine learning model capable of detecting suspicious transactions.</a:t>
            </a:r>
          </a:p>
          <a:p>
            <a:pPr marL="457200" indent="-457200">
              <a:buFont typeface="+mj-lt"/>
              <a:buAutoNum type="arabicPeriod"/>
            </a:pPr>
            <a:r>
              <a:rPr lang="en-GB" dirty="0"/>
              <a:t>To improve the accuracy and efficiency of fraud detection systems.</a:t>
            </a:r>
          </a:p>
          <a:p>
            <a:pPr marL="457200" indent="-457200">
              <a:buFont typeface="+mj-lt"/>
              <a:buAutoNum type="arabicPeriod"/>
            </a:pPr>
            <a:r>
              <a:rPr lang="en-GB" dirty="0"/>
              <a:t>To reduce financial losses by identifying fraudulent activities at an early stage.</a:t>
            </a:r>
          </a:p>
          <a:p>
            <a:pPr marL="457200" indent="-457200">
              <a:buFont typeface="+mj-lt"/>
              <a:buAutoNum type="arabicPeriod"/>
            </a:pPr>
            <a:r>
              <a:rPr lang="en-GB" dirty="0"/>
              <a:t>To design a system that can support secure digital banking and online payment systems.</a:t>
            </a:r>
          </a:p>
          <a:p>
            <a:pPr marL="0" indent="0">
              <a:buNone/>
            </a:pPr>
            <a:endParaRPr lang="en-IN" b="1" u="sng" dirty="0"/>
          </a:p>
        </p:txBody>
      </p:sp>
    </p:spTree>
    <p:extLst>
      <p:ext uri="{BB962C8B-B14F-4D97-AF65-F5344CB8AC3E}">
        <p14:creationId xmlns:p14="http://schemas.microsoft.com/office/powerpoint/2010/main" val="15133053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17603-A83B-7FC5-2CCF-E67DCD61F0E5}"/>
              </a:ext>
            </a:extLst>
          </p:cNvPr>
          <p:cNvSpPr>
            <a:spLocks noGrp="1"/>
          </p:cNvSpPr>
          <p:nvPr>
            <p:ph type="title"/>
          </p:nvPr>
        </p:nvSpPr>
        <p:spPr>
          <a:xfrm>
            <a:off x="549858" y="452718"/>
            <a:ext cx="9404723" cy="798566"/>
          </a:xfrm>
        </p:spPr>
        <p:txBody>
          <a:bodyPr/>
          <a:lstStyle/>
          <a:p>
            <a:r>
              <a:rPr lang="en-IN" b="1" dirty="0"/>
              <a:t>Methodology</a:t>
            </a:r>
          </a:p>
        </p:txBody>
      </p:sp>
      <p:sp>
        <p:nvSpPr>
          <p:cNvPr id="3" name="Content Placeholder 2">
            <a:extLst>
              <a:ext uri="{FF2B5EF4-FFF2-40B4-BE49-F238E27FC236}">
                <a16:creationId xmlns:a16="http://schemas.microsoft.com/office/drawing/2014/main" id="{FAF4A138-64C5-2BFE-9D50-6958419ACAAE}"/>
              </a:ext>
            </a:extLst>
          </p:cNvPr>
          <p:cNvSpPr>
            <a:spLocks noGrp="1"/>
          </p:cNvSpPr>
          <p:nvPr>
            <p:ph idx="1"/>
          </p:nvPr>
        </p:nvSpPr>
        <p:spPr>
          <a:xfrm>
            <a:off x="549858" y="1395664"/>
            <a:ext cx="11265153" cy="5045713"/>
          </a:xfrm>
        </p:spPr>
        <p:txBody>
          <a:bodyPr>
            <a:normAutofit fontScale="92500" lnSpcReduction="20000"/>
          </a:bodyPr>
          <a:lstStyle/>
          <a:p>
            <a:pPr marL="457200" indent="-457200">
              <a:buFont typeface="+mj-lt"/>
              <a:buAutoNum type="arabicPeriod"/>
            </a:pPr>
            <a:r>
              <a:rPr lang="en-GB" b="1" dirty="0"/>
              <a:t>Data Collection</a:t>
            </a:r>
            <a:br>
              <a:rPr lang="en-GB" dirty="0"/>
            </a:br>
            <a:r>
              <a:rPr lang="en-GB" dirty="0"/>
              <a:t>Financial transaction datasets are collected from reliable sources such as public datasets or banking transaction records.</a:t>
            </a:r>
          </a:p>
          <a:p>
            <a:pPr marL="457200" indent="-457200">
              <a:buFont typeface="+mj-lt"/>
              <a:buAutoNum type="arabicPeriod"/>
            </a:pPr>
            <a:r>
              <a:rPr lang="en-GB" b="1" dirty="0"/>
              <a:t>Data Preprocessing</a:t>
            </a:r>
            <a:br>
              <a:rPr lang="en-GB" dirty="0"/>
            </a:br>
            <a:r>
              <a:rPr lang="en-GB" dirty="0"/>
              <a:t>The collected data is cleaned by handling missing values, removing duplicates, and normalizing the data to improve model performance.</a:t>
            </a:r>
          </a:p>
          <a:p>
            <a:pPr marL="457200" indent="-457200">
              <a:buFont typeface="+mj-lt"/>
              <a:buAutoNum type="arabicPeriod"/>
            </a:pPr>
            <a:r>
              <a:rPr lang="en-GB" b="1" dirty="0"/>
              <a:t>Feature Selection</a:t>
            </a:r>
            <a:br>
              <a:rPr lang="en-GB" dirty="0"/>
            </a:br>
            <a:r>
              <a:rPr lang="en-GB" dirty="0"/>
              <a:t>Important features such as transaction amount, time, location, and user behaviour are selected to help identify fraud patterns.</a:t>
            </a:r>
          </a:p>
          <a:p>
            <a:pPr marL="457200" indent="-457200">
              <a:buFont typeface="+mj-lt"/>
              <a:buAutoNum type="arabicPeriod"/>
            </a:pPr>
            <a:r>
              <a:rPr lang="en-GB" b="1" dirty="0"/>
              <a:t>Model Development</a:t>
            </a:r>
            <a:br>
              <a:rPr lang="en-GB" dirty="0"/>
            </a:br>
            <a:r>
              <a:rPr lang="en-GB" dirty="0"/>
              <a:t>Machine learning algorithms such as Logistic Regression, Random Forest, or XGBoost are applied to train the fraud detection model.</a:t>
            </a:r>
          </a:p>
          <a:p>
            <a:pPr marL="457200" indent="-457200">
              <a:buFont typeface="+mj-lt"/>
              <a:buAutoNum type="arabicPeriod"/>
            </a:pPr>
            <a:r>
              <a:rPr lang="en-GB" b="1" dirty="0"/>
              <a:t>Model Evaluation</a:t>
            </a:r>
            <a:br>
              <a:rPr lang="en-GB" dirty="0"/>
            </a:br>
            <a:r>
              <a:rPr lang="en-GB" dirty="0"/>
              <a:t>The performance of the model is evaluated using metrics like accuracy, precision, recall, and F1-score.</a:t>
            </a:r>
          </a:p>
          <a:p>
            <a:pPr marL="457200" indent="-457200">
              <a:buFont typeface="+mj-lt"/>
              <a:buAutoNum type="arabicPeriod"/>
            </a:pPr>
            <a:r>
              <a:rPr lang="en-GB" b="1" dirty="0"/>
              <a:t>Fraud Detection System</a:t>
            </a:r>
            <a:br>
              <a:rPr lang="en-GB" dirty="0"/>
            </a:br>
            <a:r>
              <a:rPr lang="en-GB" dirty="0"/>
              <a:t>The trained model is used to classify transactions as </a:t>
            </a:r>
            <a:r>
              <a:rPr lang="en-GB" b="1" dirty="0"/>
              <a:t>fraudulent or legitimate</a:t>
            </a:r>
            <a:r>
              <a:rPr lang="en-GB" dirty="0"/>
              <a:t> to help financial institutions detect suspicious activities.</a:t>
            </a:r>
          </a:p>
          <a:p>
            <a:pPr marL="457200" indent="-457200">
              <a:buFont typeface="+mj-lt"/>
              <a:buAutoNum type="arabicPeriod"/>
            </a:pPr>
            <a:endParaRPr lang="en-IN" b="1" dirty="0"/>
          </a:p>
        </p:txBody>
      </p:sp>
    </p:spTree>
    <p:extLst>
      <p:ext uri="{BB962C8B-B14F-4D97-AF65-F5344CB8AC3E}">
        <p14:creationId xmlns:p14="http://schemas.microsoft.com/office/powerpoint/2010/main" val="18324462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96B2D-F99D-2C9C-30F8-97292E891183}"/>
              </a:ext>
            </a:extLst>
          </p:cNvPr>
          <p:cNvSpPr>
            <a:spLocks noGrp="1"/>
          </p:cNvSpPr>
          <p:nvPr>
            <p:ph type="title"/>
          </p:nvPr>
        </p:nvSpPr>
        <p:spPr>
          <a:xfrm>
            <a:off x="646111" y="452718"/>
            <a:ext cx="9404723" cy="870756"/>
          </a:xfrm>
        </p:spPr>
        <p:txBody>
          <a:bodyPr/>
          <a:lstStyle/>
          <a:p>
            <a:r>
              <a:rPr lang="en-IN" b="1" dirty="0"/>
              <a:t>System Architecture</a:t>
            </a:r>
          </a:p>
        </p:txBody>
      </p:sp>
      <p:pic>
        <p:nvPicPr>
          <p:cNvPr id="5" name="Content Placeholder 4">
            <a:extLst>
              <a:ext uri="{FF2B5EF4-FFF2-40B4-BE49-F238E27FC236}">
                <a16:creationId xmlns:a16="http://schemas.microsoft.com/office/drawing/2014/main" id="{C8B42090-3ECD-57D0-D0B5-F78F3D871269}"/>
              </a:ext>
            </a:extLst>
          </p:cNvPr>
          <p:cNvPicPr>
            <a:picLocks noGrp="1" noChangeAspect="1"/>
          </p:cNvPicPr>
          <p:nvPr>
            <p:ph idx="1"/>
          </p:nvPr>
        </p:nvPicPr>
        <p:blipFill>
          <a:blip r:embed="rId2"/>
          <a:srcRect/>
          <a:stretch/>
        </p:blipFill>
        <p:spPr>
          <a:xfrm>
            <a:off x="1251284" y="1323975"/>
            <a:ext cx="9404723" cy="5081307"/>
          </a:xfrm>
          <a:prstGeom prst="rect">
            <a:avLst/>
          </a:prstGeom>
        </p:spPr>
      </p:pic>
    </p:spTree>
    <p:extLst>
      <p:ext uri="{BB962C8B-B14F-4D97-AF65-F5344CB8AC3E}">
        <p14:creationId xmlns:p14="http://schemas.microsoft.com/office/powerpoint/2010/main" val="23899200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7C597-BCDD-E91E-D43F-290599489872}"/>
              </a:ext>
            </a:extLst>
          </p:cNvPr>
          <p:cNvSpPr>
            <a:spLocks noGrp="1"/>
          </p:cNvSpPr>
          <p:nvPr>
            <p:ph type="title"/>
          </p:nvPr>
        </p:nvSpPr>
        <p:spPr>
          <a:xfrm>
            <a:off x="504761" y="332403"/>
            <a:ext cx="9404723" cy="810598"/>
          </a:xfrm>
        </p:spPr>
        <p:txBody>
          <a:bodyPr/>
          <a:lstStyle/>
          <a:p>
            <a:r>
              <a:rPr lang="en-IN" b="1" dirty="0"/>
              <a:t>Implementation</a:t>
            </a:r>
          </a:p>
        </p:txBody>
      </p:sp>
      <p:sp>
        <p:nvSpPr>
          <p:cNvPr id="3" name="Content Placeholder 2">
            <a:extLst>
              <a:ext uri="{FF2B5EF4-FFF2-40B4-BE49-F238E27FC236}">
                <a16:creationId xmlns:a16="http://schemas.microsoft.com/office/drawing/2014/main" id="{962D4C56-ABF4-9D9B-F98E-E834805B56F0}"/>
              </a:ext>
            </a:extLst>
          </p:cNvPr>
          <p:cNvSpPr>
            <a:spLocks noGrp="1"/>
          </p:cNvSpPr>
          <p:nvPr>
            <p:ph idx="1"/>
          </p:nvPr>
        </p:nvSpPr>
        <p:spPr>
          <a:xfrm>
            <a:off x="553170" y="1227220"/>
            <a:ext cx="11085659" cy="5298377"/>
          </a:xfrm>
        </p:spPr>
        <p:txBody>
          <a:bodyPr>
            <a:normAutofit fontScale="25000" lnSpcReduction="20000"/>
          </a:bodyPr>
          <a:lstStyle/>
          <a:p>
            <a:pPr marL="457200" indent="-457200">
              <a:buFont typeface="+mj-lt"/>
              <a:buAutoNum type="arabicPeriod"/>
            </a:pPr>
            <a:r>
              <a:rPr lang="en-GB" sz="8000" b="1" dirty="0"/>
              <a:t>Data Collection</a:t>
            </a:r>
            <a:br>
              <a:rPr lang="en-GB" sz="8000" dirty="0"/>
            </a:br>
            <a:r>
              <a:rPr lang="en-GB" sz="7200" dirty="0"/>
              <a:t>Financial transaction data is collected from publicly available datasets such as Kaggle or simulated banking transaction datasets</a:t>
            </a:r>
            <a:r>
              <a:rPr lang="en-GB" sz="8000" dirty="0"/>
              <a:t>.</a:t>
            </a:r>
          </a:p>
          <a:p>
            <a:pPr marL="457200" indent="-457200">
              <a:buFont typeface="+mj-lt"/>
              <a:buAutoNum type="arabicPeriod"/>
            </a:pPr>
            <a:r>
              <a:rPr lang="en-GB" sz="8000" b="1" dirty="0"/>
              <a:t>Data Preprocessing</a:t>
            </a:r>
            <a:br>
              <a:rPr lang="en-GB" sz="8000" dirty="0"/>
            </a:br>
            <a:r>
              <a:rPr lang="en-GB" sz="7200" dirty="0"/>
              <a:t>The dataset is cleaned by handling missing values, removing duplicates, and normalizing numerical features to prepare the data for model training.</a:t>
            </a:r>
          </a:p>
          <a:p>
            <a:pPr marL="457200" indent="-457200">
              <a:buFont typeface="+mj-lt"/>
              <a:buAutoNum type="arabicPeriod"/>
            </a:pPr>
            <a:r>
              <a:rPr lang="en-GB" sz="8000" b="1" dirty="0"/>
              <a:t>Feature Engineering</a:t>
            </a:r>
            <a:br>
              <a:rPr lang="en-GB" sz="8000" dirty="0"/>
            </a:br>
            <a:r>
              <a:rPr lang="en-GB" sz="7200" dirty="0"/>
              <a:t>Important features such as transaction amount, time, location, and user behaviour patterns are selected to improve fraud detection accuracy.</a:t>
            </a:r>
          </a:p>
          <a:p>
            <a:pPr marL="457200" indent="-457200">
              <a:buFont typeface="+mj-lt"/>
              <a:buAutoNum type="arabicPeriod"/>
            </a:pPr>
            <a:r>
              <a:rPr lang="en-GB" sz="8000" b="1" dirty="0"/>
              <a:t>Model Training</a:t>
            </a:r>
            <a:br>
              <a:rPr lang="en-GB" sz="8000" dirty="0"/>
            </a:br>
            <a:r>
              <a:rPr lang="en-GB" sz="7200" dirty="0"/>
              <a:t>Machine learning algorithms such as </a:t>
            </a:r>
            <a:r>
              <a:rPr lang="en-GB" sz="7200" b="1" dirty="0"/>
              <a:t>Logistic Regression, Random Forest </a:t>
            </a:r>
            <a:r>
              <a:rPr lang="en-GB" sz="7200" dirty="0"/>
              <a:t>are used to train the fraud detection model.</a:t>
            </a:r>
          </a:p>
          <a:p>
            <a:pPr marL="457200" indent="-457200">
              <a:buFont typeface="+mj-lt"/>
              <a:buAutoNum type="arabicPeriod"/>
            </a:pPr>
            <a:r>
              <a:rPr lang="en-GB" sz="8000" b="1" dirty="0"/>
              <a:t>Model Evaluation</a:t>
            </a:r>
            <a:br>
              <a:rPr lang="en-GB" sz="8000" dirty="0"/>
            </a:br>
            <a:r>
              <a:rPr lang="en-GB" sz="7200" dirty="0"/>
              <a:t>The trained model is evaluated using performance metrics like </a:t>
            </a:r>
            <a:r>
              <a:rPr lang="en-GB" sz="7200" b="1" dirty="0"/>
              <a:t>Accuracy, Precision, Recall </a:t>
            </a:r>
            <a:r>
              <a:rPr lang="en-GB" sz="7200" dirty="0"/>
              <a:t>to measure its effectiveness in detecting fraudulent transactions.</a:t>
            </a:r>
          </a:p>
          <a:p>
            <a:pPr marL="457200" indent="-457200">
              <a:buFont typeface="+mj-lt"/>
              <a:buAutoNum type="arabicPeriod"/>
            </a:pPr>
            <a:r>
              <a:rPr lang="en-GB" sz="8000" b="1" dirty="0"/>
              <a:t>Fraud Detection System</a:t>
            </a:r>
            <a:br>
              <a:rPr lang="en-GB" sz="8000" dirty="0"/>
            </a:br>
            <a:r>
              <a:rPr lang="en-GB" sz="7200" dirty="0"/>
              <a:t>The final model is deployed to analyze new transactions and classify them as </a:t>
            </a:r>
            <a:r>
              <a:rPr lang="en-GB" sz="7200" b="1" dirty="0"/>
              <a:t>legitimate or fraudulent</a:t>
            </a:r>
            <a:r>
              <a:rPr lang="en-GB" sz="7200" dirty="0"/>
              <a:t>, helping financial institutions detect suspicious activities</a:t>
            </a:r>
            <a:r>
              <a:rPr lang="en-GB" dirty="0"/>
              <a:t>.</a:t>
            </a:r>
            <a:endParaRPr lang="en-IN" dirty="0"/>
          </a:p>
        </p:txBody>
      </p:sp>
    </p:spTree>
    <p:extLst>
      <p:ext uri="{BB962C8B-B14F-4D97-AF65-F5344CB8AC3E}">
        <p14:creationId xmlns:p14="http://schemas.microsoft.com/office/powerpoint/2010/main" val="19916708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DD6F1-BA91-040A-152A-5AD43C0751E7}"/>
              </a:ext>
            </a:extLst>
          </p:cNvPr>
          <p:cNvSpPr>
            <a:spLocks noGrp="1"/>
          </p:cNvSpPr>
          <p:nvPr>
            <p:ph type="title"/>
          </p:nvPr>
        </p:nvSpPr>
        <p:spPr>
          <a:xfrm>
            <a:off x="646111" y="452718"/>
            <a:ext cx="9404723" cy="858724"/>
          </a:xfrm>
        </p:spPr>
        <p:txBody>
          <a:bodyPr/>
          <a:lstStyle/>
          <a:p>
            <a:r>
              <a:rPr lang="en-IN" b="1" dirty="0"/>
              <a:t>Technologies &amp; Algorithms Used</a:t>
            </a:r>
          </a:p>
        </p:txBody>
      </p:sp>
      <p:sp>
        <p:nvSpPr>
          <p:cNvPr id="3" name="Content Placeholder 2">
            <a:extLst>
              <a:ext uri="{FF2B5EF4-FFF2-40B4-BE49-F238E27FC236}">
                <a16:creationId xmlns:a16="http://schemas.microsoft.com/office/drawing/2014/main" id="{6718AC41-B9FE-5D02-B410-B904998AD8DB}"/>
              </a:ext>
            </a:extLst>
          </p:cNvPr>
          <p:cNvSpPr>
            <a:spLocks noGrp="1"/>
          </p:cNvSpPr>
          <p:nvPr>
            <p:ph idx="1"/>
          </p:nvPr>
        </p:nvSpPr>
        <p:spPr>
          <a:xfrm>
            <a:off x="1022683" y="1431758"/>
            <a:ext cx="9404723" cy="4816641"/>
          </a:xfrm>
        </p:spPr>
        <p:txBody>
          <a:bodyPr>
            <a:normAutofit lnSpcReduction="10000"/>
          </a:bodyPr>
          <a:lstStyle/>
          <a:p>
            <a:r>
              <a:rPr lang="en-IN" sz="2400" b="1" u="sng" dirty="0"/>
              <a:t>Technologies Used</a:t>
            </a:r>
            <a:r>
              <a:rPr lang="en-IN" sz="2400" b="1" dirty="0"/>
              <a:t>:</a:t>
            </a:r>
            <a:endParaRPr lang="en-IN" sz="2400" b="1" u="sng" dirty="0"/>
          </a:p>
          <a:p>
            <a:pPr lvl="1">
              <a:buFont typeface="Wingdings" panose="05000000000000000000" pitchFamily="2" charset="2"/>
              <a:buChar char="§"/>
            </a:pPr>
            <a:r>
              <a:rPr lang="en-IN" sz="2000" b="1" dirty="0"/>
              <a:t>Python</a:t>
            </a:r>
            <a:r>
              <a:rPr lang="en-IN" sz="2000" dirty="0"/>
              <a:t> – Programming language used for developing the system</a:t>
            </a:r>
          </a:p>
          <a:p>
            <a:pPr lvl="1">
              <a:buFont typeface="Wingdings" panose="05000000000000000000" pitchFamily="2" charset="2"/>
              <a:buChar char="§"/>
            </a:pPr>
            <a:r>
              <a:rPr lang="en-IN" sz="2000" b="1" dirty="0"/>
              <a:t>Pandas</a:t>
            </a:r>
            <a:r>
              <a:rPr lang="en-IN" sz="2000" dirty="0"/>
              <a:t> – Data preprocessing and data analysis</a:t>
            </a:r>
          </a:p>
          <a:p>
            <a:pPr lvl="1">
              <a:buFont typeface="Wingdings" panose="05000000000000000000" pitchFamily="2" charset="2"/>
              <a:buChar char="§"/>
            </a:pPr>
            <a:r>
              <a:rPr lang="en-IN" sz="2000" b="1" dirty="0"/>
              <a:t>NumPy</a:t>
            </a:r>
            <a:r>
              <a:rPr lang="en-IN" sz="2000" dirty="0"/>
              <a:t> – Numerical computations and array operations</a:t>
            </a:r>
          </a:p>
          <a:p>
            <a:pPr lvl="1">
              <a:buFont typeface="Wingdings" panose="05000000000000000000" pitchFamily="2" charset="2"/>
              <a:buChar char="§"/>
            </a:pPr>
            <a:r>
              <a:rPr lang="en-IN" sz="2000" b="1" dirty="0"/>
              <a:t>Scikit-learn</a:t>
            </a:r>
            <a:r>
              <a:rPr lang="en-IN" sz="2000" dirty="0"/>
              <a:t> – Machine learning model development</a:t>
            </a:r>
          </a:p>
          <a:p>
            <a:pPr lvl="1">
              <a:buFont typeface="Wingdings" panose="05000000000000000000" pitchFamily="2" charset="2"/>
              <a:buChar char="§"/>
            </a:pPr>
            <a:r>
              <a:rPr lang="en-IN" sz="2000" b="1" dirty="0"/>
              <a:t>Matplotlib / Seaborn</a:t>
            </a:r>
            <a:r>
              <a:rPr lang="en-IN" sz="2000" dirty="0"/>
              <a:t> – Data visualization</a:t>
            </a:r>
          </a:p>
          <a:p>
            <a:r>
              <a:rPr lang="en-GB" sz="2400" b="1" u="sng" dirty="0"/>
              <a:t>Algorithms Used</a:t>
            </a:r>
            <a:r>
              <a:rPr lang="en-GB" sz="2400" b="1" dirty="0"/>
              <a:t>:</a:t>
            </a:r>
            <a:endParaRPr lang="en-GB" sz="2400" b="1" u="sng" dirty="0"/>
          </a:p>
          <a:p>
            <a:pPr lvl="1">
              <a:buFont typeface="Wingdings" panose="05000000000000000000" pitchFamily="2" charset="2"/>
              <a:buChar char="§"/>
            </a:pPr>
            <a:r>
              <a:rPr lang="en-GB" sz="2000" b="1" dirty="0"/>
              <a:t>Logistic Regression</a:t>
            </a:r>
            <a:r>
              <a:rPr lang="en-GB" sz="2000" dirty="0"/>
              <a:t> – Used for classification of transactions</a:t>
            </a:r>
          </a:p>
          <a:p>
            <a:pPr lvl="1">
              <a:buFont typeface="Wingdings" panose="05000000000000000000" pitchFamily="2" charset="2"/>
              <a:buChar char="§"/>
            </a:pPr>
            <a:r>
              <a:rPr lang="en-GB" sz="2000" b="1" dirty="0"/>
              <a:t>Random Forest</a:t>
            </a:r>
            <a:r>
              <a:rPr lang="en-GB" sz="2000" dirty="0"/>
              <a:t> – Used for accurate fraud detection</a:t>
            </a:r>
          </a:p>
          <a:p>
            <a:r>
              <a:rPr lang="en-IN" b="1" u="sng" dirty="0"/>
              <a:t>User Interface</a:t>
            </a:r>
            <a:r>
              <a:rPr lang="en-IN" b="1" dirty="0"/>
              <a:t>:</a:t>
            </a:r>
          </a:p>
          <a:p>
            <a:pPr marL="0" indent="0">
              <a:buNone/>
            </a:pPr>
            <a:r>
              <a:rPr lang="en-IN" b="1" dirty="0"/>
              <a:t>	Streamlit </a:t>
            </a:r>
          </a:p>
        </p:txBody>
      </p:sp>
    </p:spTree>
    <p:extLst>
      <p:ext uri="{BB962C8B-B14F-4D97-AF65-F5344CB8AC3E}">
        <p14:creationId xmlns:p14="http://schemas.microsoft.com/office/powerpoint/2010/main" val="38735979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5D4D6-B09B-59D6-ED65-138EBDEDBF94}"/>
              </a:ext>
            </a:extLst>
          </p:cNvPr>
          <p:cNvSpPr>
            <a:spLocks noGrp="1"/>
          </p:cNvSpPr>
          <p:nvPr>
            <p:ph type="title"/>
          </p:nvPr>
        </p:nvSpPr>
        <p:spPr>
          <a:xfrm>
            <a:off x="646111" y="452718"/>
            <a:ext cx="9404723" cy="835308"/>
          </a:xfrm>
        </p:spPr>
        <p:txBody>
          <a:bodyPr/>
          <a:lstStyle/>
          <a:p>
            <a:r>
              <a:rPr lang="en-GB" b="1" dirty="0"/>
              <a:t>Outcomes</a:t>
            </a:r>
            <a:br>
              <a:rPr lang="en-GB" b="1" dirty="0"/>
            </a:br>
            <a:endParaRPr lang="en-IN" dirty="0"/>
          </a:p>
        </p:txBody>
      </p:sp>
      <p:sp>
        <p:nvSpPr>
          <p:cNvPr id="3" name="Content Placeholder 2">
            <a:extLst>
              <a:ext uri="{FF2B5EF4-FFF2-40B4-BE49-F238E27FC236}">
                <a16:creationId xmlns:a16="http://schemas.microsoft.com/office/drawing/2014/main" id="{9516D32C-38F8-699A-D7DD-9324B08E9EDD}"/>
              </a:ext>
            </a:extLst>
          </p:cNvPr>
          <p:cNvSpPr>
            <a:spLocks noGrp="1"/>
          </p:cNvSpPr>
          <p:nvPr>
            <p:ph idx="1"/>
          </p:nvPr>
        </p:nvSpPr>
        <p:spPr>
          <a:xfrm>
            <a:off x="646111" y="1582994"/>
            <a:ext cx="10498754" cy="5018934"/>
          </a:xfrm>
        </p:spPr>
        <p:txBody>
          <a:bodyPr>
            <a:normAutofit fontScale="25000" lnSpcReduction="20000"/>
          </a:bodyPr>
          <a:lstStyle/>
          <a:p>
            <a:r>
              <a:rPr lang="en-GB" sz="8000" b="1" dirty="0"/>
              <a:t>Automated fraud detection</a:t>
            </a:r>
            <a:r>
              <a:rPr lang="en-GB" sz="8000" dirty="0"/>
              <a:t> – the system automatically identifies whether a transaction is </a:t>
            </a:r>
            <a:r>
              <a:rPr lang="en-GB" sz="8000" b="1" dirty="0"/>
              <a:t>fraudulent or legitimate</a:t>
            </a:r>
            <a:r>
              <a:rPr lang="en-GB" sz="8000" dirty="0"/>
              <a:t> using machine learning.</a:t>
            </a:r>
          </a:p>
          <a:p>
            <a:r>
              <a:rPr lang="en-GB" sz="8000" b="1" dirty="0"/>
              <a:t>Fraud probability prediction</a:t>
            </a:r>
            <a:r>
              <a:rPr lang="en-GB" sz="8000" dirty="0"/>
              <a:t> – displays the </a:t>
            </a:r>
            <a:r>
              <a:rPr lang="en-GB" sz="8000" b="1" dirty="0"/>
              <a:t>fraud probability percentage</a:t>
            </a:r>
            <a:r>
              <a:rPr lang="en-GB" sz="8000" dirty="0"/>
              <a:t> for each transaction.</a:t>
            </a:r>
          </a:p>
          <a:p>
            <a:r>
              <a:rPr lang="en-GB" sz="8000" b="1" dirty="0"/>
              <a:t>Interactive dashboard</a:t>
            </a:r>
            <a:r>
              <a:rPr lang="en-GB" sz="8000" dirty="0"/>
              <a:t> – provides a </a:t>
            </a:r>
            <a:r>
              <a:rPr lang="en-GB" sz="8000" b="1" dirty="0"/>
              <a:t>real-time dashboard</a:t>
            </a:r>
            <a:r>
              <a:rPr lang="en-GB" sz="8000" dirty="0"/>
              <a:t> showing total transactions, fraud transactions, and fraud rate.</a:t>
            </a:r>
          </a:p>
          <a:p>
            <a:r>
              <a:rPr lang="en-GB" sz="8000" b="1" dirty="0"/>
              <a:t>Transaction data visualization</a:t>
            </a:r>
            <a:r>
              <a:rPr lang="en-GB" sz="8000" dirty="0"/>
              <a:t> – graphs such as </a:t>
            </a:r>
            <a:r>
              <a:rPr lang="en-GB" sz="8000" b="1" dirty="0"/>
              <a:t>transaction activity</a:t>
            </a:r>
            <a:r>
              <a:rPr lang="en-GB" sz="8000" dirty="0"/>
              <a:t> and </a:t>
            </a:r>
            <a:r>
              <a:rPr lang="en-GB" sz="8000" b="1" dirty="0"/>
              <a:t>fraud vs legitimate distribution</a:t>
            </a:r>
            <a:r>
              <a:rPr lang="en-GB" sz="8000" dirty="0"/>
              <a:t> help analyze transaction patterns.</a:t>
            </a:r>
          </a:p>
          <a:p>
            <a:r>
              <a:rPr lang="en-GB" sz="8000" b="1" dirty="0"/>
              <a:t>Multi-currency transaction support</a:t>
            </a:r>
            <a:r>
              <a:rPr lang="en-GB" sz="8000" dirty="0"/>
              <a:t> – the system accepts transactions in </a:t>
            </a:r>
            <a:r>
              <a:rPr lang="en-GB" sz="8000" b="1" dirty="0"/>
              <a:t>different currencies and converts them to INR</a:t>
            </a:r>
            <a:r>
              <a:rPr lang="en-GB" sz="8000" dirty="0"/>
              <a:t> for analysis.</a:t>
            </a:r>
          </a:p>
          <a:p>
            <a:r>
              <a:rPr lang="en-GB" sz="8000" b="1" dirty="0"/>
              <a:t>Fraud monitoring and reporting</a:t>
            </a:r>
            <a:r>
              <a:rPr lang="en-GB" sz="8000" dirty="0"/>
              <a:t> – displays </a:t>
            </a:r>
            <a:r>
              <a:rPr lang="en-GB" sz="8000" b="1" dirty="0"/>
              <a:t>fraudulent transactions in a report table</a:t>
            </a:r>
            <a:r>
              <a:rPr lang="en-GB" sz="8000" dirty="0"/>
              <a:t> and allows downloading the fraud report.</a:t>
            </a:r>
          </a:p>
          <a:p>
            <a:r>
              <a:rPr lang="en-GB" sz="8000" b="1" dirty="0"/>
              <a:t>User-friendly interface</a:t>
            </a:r>
            <a:r>
              <a:rPr lang="en-GB" sz="8000" dirty="0"/>
              <a:t> – built using </a:t>
            </a:r>
            <a:r>
              <a:rPr lang="en-GB" sz="8000" b="1" dirty="0" err="1"/>
              <a:t>streamlit</a:t>
            </a:r>
            <a:r>
              <a:rPr lang="en-GB" sz="8000" dirty="0"/>
              <a:t> for easy interaction and real-time analysis.</a:t>
            </a:r>
          </a:p>
          <a:p>
            <a:endParaRPr lang="en-IN" dirty="0"/>
          </a:p>
        </p:txBody>
      </p:sp>
    </p:spTree>
    <p:extLst>
      <p:ext uri="{BB962C8B-B14F-4D97-AF65-F5344CB8AC3E}">
        <p14:creationId xmlns:p14="http://schemas.microsoft.com/office/powerpoint/2010/main" val="20924212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EAC91-D514-BB58-0A50-1E2F8AE3EE7F}"/>
              </a:ext>
            </a:extLst>
          </p:cNvPr>
          <p:cNvSpPr>
            <a:spLocks noGrp="1"/>
          </p:cNvSpPr>
          <p:nvPr>
            <p:ph type="title"/>
          </p:nvPr>
        </p:nvSpPr>
        <p:spPr>
          <a:xfrm>
            <a:off x="645130" y="221444"/>
            <a:ext cx="9404723" cy="776314"/>
          </a:xfrm>
        </p:spPr>
        <p:txBody>
          <a:bodyPr/>
          <a:lstStyle/>
          <a:p>
            <a:r>
              <a:rPr lang="en-IN" b="1" u="sng" dirty="0"/>
              <a:t>Results</a:t>
            </a:r>
            <a:r>
              <a:rPr lang="en-IN" b="1" dirty="0"/>
              <a:t>: Dashboard</a:t>
            </a:r>
          </a:p>
        </p:txBody>
      </p:sp>
      <p:pic>
        <p:nvPicPr>
          <p:cNvPr id="11" name="Content Placeholder 10">
            <a:extLst>
              <a:ext uri="{FF2B5EF4-FFF2-40B4-BE49-F238E27FC236}">
                <a16:creationId xmlns:a16="http://schemas.microsoft.com/office/drawing/2014/main" id="{24226643-5AC1-9E44-C04F-91201C251DFC}"/>
              </a:ext>
            </a:extLst>
          </p:cNvPr>
          <p:cNvPicPr>
            <a:picLocks noGrp="1" noChangeAspect="1"/>
          </p:cNvPicPr>
          <p:nvPr>
            <p:ph idx="1"/>
          </p:nvPr>
        </p:nvPicPr>
        <p:blipFill>
          <a:blip r:embed="rId2"/>
          <a:stretch>
            <a:fillRect/>
          </a:stretch>
        </p:blipFill>
        <p:spPr>
          <a:xfrm>
            <a:off x="645130" y="1189703"/>
            <a:ext cx="10927438" cy="5066077"/>
          </a:xfrm>
          <a:prstGeom prst="rect">
            <a:avLst/>
          </a:prstGeom>
        </p:spPr>
      </p:pic>
    </p:spTree>
    <p:extLst>
      <p:ext uri="{BB962C8B-B14F-4D97-AF65-F5344CB8AC3E}">
        <p14:creationId xmlns:p14="http://schemas.microsoft.com/office/powerpoint/2010/main" val="9436344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8D8D3-0C26-AF76-7AAE-16804FCA3481}"/>
              </a:ext>
            </a:extLst>
          </p:cNvPr>
          <p:cNvSpPr>
            <a:spLocks noGrp="1"/>
          </p:cNvSpPr>
          <p:nvPr>
            <p:ph type="title"/>
          </p:nvPr>
        </p:nvSpPr>
        <p:spPr>
          <a:xfrm>
            <a:off x="646111" y="452718"/>
            <a:ext cx="9404723" cy="756650"/>
          </a:xfrm>
        </p:spPr>
        <p:txBody>
          <a:bodyPr/>
          <a:lstStyle/>
          <a:p>
            <a:r>
              <a:rPr lang="en-IN" b="1" dirty="0"/>
              <a:t>Graphs:</a:t>
            </a:r>
          </a:p>
        </p:txBody>
      </p:sp>
      <p:pic>
        <p:nvPicPr>
          <p:cNvPr id="5" name="Content Placeholder 4">
            <a:extLst>
              <a:ext uri="{FF2B5EF4-FFF2-40B4-BE49-F238E27FC236}">
                <a16:creationId xmlns:a16="http://schemas.microsoft.com/office/drawing/2014/main" id="{1E1276B9-6EF5-9955-01D5-84DDEB4F6A47}"/>
              </a:ext>
            </a:extLst>
          </p:cNvPr>
          <p:cNvPicPr>
            <a:picLocks noGrp="1" noChangeAspect="1"/>
          </p:cNvPicPr>
          <p:nvPr>
            <p:ph idx="1"/>
          </p:nvPr>
        </p:nvPicPr>
        <p:blipFill>
          <a:blip r:embed="rId2"/>
          <a:stretch>
            <a:fillRect/>
          </a:stretch>
        </p:blipFill>
        <p:spPr>
          <a:xfrm>
            <a:off x="757084" y="1573161"/>
            <a:ext cx="10658168" cy="4832121"/>
          </a:xfrm>
          <a:prstGeom prst="rect">
            <a:avLst/>
          </a:prstGeom>
        </p:spPr>
      </p:pic>
    </p:spTree>
    <p:extLst>
      <p:ext uri="{BB962C8B-B14F-4D97-AF65-F5344CB8AC3E}">
        <p14:creationId xmlns:p14="http://schemas.microsoft.com/office/powerpoint/2010/main" val="523955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15A41-ABDA-A503-FDA8-720C26687901}"/>
              </a:ext>
            </a:extLst>
          </p:cNvPr>
          <p:cNvSpPr>
            <a:spLocks noGrp="1"/>
          </p:cNvSpPr>
          <p:nvPr>
            <p:ph type="title"/>
          </p:nvPr>
        </p:nvSpPr>
        <p:spPr>
          <a:xfrm>
            <a:off x="646111" y="452718"/>
            <a:ext cx="9404723" cy="795979"/>
          </a:xfrm>
        </p:spPr>
        <p:txBody>
          <a:bodyPr/>
          <a:lstStyle/>
          <a:p>
            <a:r>
              <a:rPr lang="en-IN" b="1" dirty="0"/>
              <a:t>Transaction Analysis:</a:t>
            </a:r>
          </a:p>
        </p:txBody>
      </p:sp>
      <p:pic>
        <p:nvPicPr>
          <p:cNvPr id="5" name="Content Placeholder 4">
            <a:extLst>
              <a:ext uri="{FF2B5EF4-FFF2-40B4-BE49-F238E27FC236}">
                <a16:creationId xmlns:a16="http://schemas.microsoft.com/office/drawing/2014/main" id="{56AD3845-2F6D-44FA-27AB-3B16234339E3}"/>
              </a:ext>
            </a:extLst>
          </p:cNvPr>
          <p:cNvPicPr>
            <a:picLocks noGrp="1" noChangeAspect="1"/>
          </p:cNvPicPr>
          <p:nvPr>
            <p:ph idx="1"/>
          </p:nvPr>
        </p:nvPicPr>
        <p:blipFill>
          <a:blip r:embed="rId2"/>
          <a:stretch>
            <a:fillRect/>
          </a:stretch>
        </p:blipFill>
        <p:spPr>
          <a:xfrm>
            <a:off x="646112" y="1356852"/>
            <a:ext cx="10985450" cy="5329083"/>
          </a:xfrm>
          <a:prstGeom prst="rect">
            <a:avLst/>
          </a:prstGeom>
        </p:spPr>
      </p:pic>
    </p:spTree>
    <p:extLst>
      <p:ext uri="{BB962C8B-B14F-4D97-AF65-F5344CB8AC3E}">
        <p14:creationId xmlns:p14="http://schemas.microsoft.com/office/powerpoint/2010/main" val="26396402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61846-F900-0852-D862-7E1D6907F2E8}"/>
              </a:ext>
            </a:extLst>
          </p:cNvPr>
          <p:cNvSpPr>
            <a:spLocks noGrp="1"/>
          </p:cNvSpPr>
          <p:nvPr>
            <p:ph type="title"/>
          </p:nvPr>
        </p:nvSpPr>
        <p:spPr>
          <a:xfrm>
            <a:off x="646111" y="452718"/>
            <a:ext cx="9404723" cy="795979"/>
          </a:xfrm>
        </p:spPr>
        <p:txBody>
          <a:bodyPr/>
          <a:lstStyle/>
          <a:p>
            <a:r>
              <a:rPr lang="en-IN" b="1" dirty="0"/>
              <a:t>Instructions and Rules:</a:t>
            </a:r>
          </a:p>
        </p:txBody>
      </p:sp>
      <p:pic>
        <p:nvPicPr>
          <p:cNvPr id="5" name="Content Placeholder 4">
            <a:extLst>
              <a:ext uri="{FF2B5EF4-FFF2-40B4-BE49-F238E27FC236}">
                <a16:creationId xmlns:a16="http://schemas.microsoft.com/office/drawing/2014/main" id="{0F3C2B2C-982C-260C-CD2D-70B569651ACE}"/>
              </a:ext>
            </a:extLst>
          </p:cNvPr>
          <p:cNvPicPr>
            <a:picLocks noGrp="1" noChangeAspect="1"/>
          </p:cNvPicPr>
          <p:nvPr>
            <p:ph idx="1"/>
          </p:nvPr>
        </p:nvPicPr>
        <p:blipFill>
          <a:blip r:embed="rId2"/>
          <a:stretch>
            <a:fillRect/>
          </a:stretch>
        </p:blipFill>
        <p:spPr>
          <a:xfrm>
            <a:off x="2930013" y="1563329"/>
            <a:ext cx="8976852" cy="5043948"/>
          </a:xfrm>
          <a:prstGeom prst="rect">
            <a:avLst/>
          </a:prstGeom>
        </p:spPr>
      </p:pic>
      <p:pic>
        <p:nvPicPr>
          <p:cNvPr id="7" name="Picture 6">
            <a:extLst>
              <a:ext uri="{FF2B5EF4-FFF2-40B4-BE49-F238E27FC236}">
                <a16:creationId xmlns:a16="http://schemas.microsoft.com/office/drawing/2014/main" id="{26C2B9AE-07AC-6DEE-28D5-1B495B5726DD}"/>
              </a:ext>
            </a:extLst>
          </p:cNvPr>
          <p:cNvPicPr>
            <a:picLocks noChangeAspect="1"/>
          </p:cNvPicPr>
          <p:nvPr/>
        </p:nvPicPr>
        <p:blipFill>
          <a:blip r:embed="rId3"/>
          <a:stretch>
            <a:fillRect/>
          </a:stretch>
        </p:blipFill>
        <p:spPr>
          <a:xfrm>
            <a:off x="109516" y="1563329"/>
            <a:ext cx="2539031" cy="5043948"/>
          </a:xfrm>
          <a:prstGeom prst="rect">
            <a:avLst/>
          </a:prstGeom>
        </p:spPr>
      </p:pic>
    </p:spTree>
    <p:extLst>
      <p:ext uri="{BB962C8B-B14F-4D97-AF65-F5344CB8AC3E}">
        <p14:creationId xmlns:p14="http://schemas.microsoft.com/office/powerpoint/2010/main" val="26148597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B0B01-12FB-8449-FDFE-067C9B5E1388}"/>
              </a:ext>
            </a:extLst>
          </p:cNvPr>
          <p:cNvSpPr>
            <a:spLocks noGrp="1"/>
          </p:cNvSpPr>
          <p:nvPr>
            <p:ph type="title"/>
          </p:nvPr>
        </p:nvSpPr>
        <p:spPr>
          <a:xfrm>
            <a:off x="890336" y="1030235"/>
            <a:ext cx="9087327" cy="822629"/>
          </a:xfrm>
        </p:spPr>
        <p:txBody>
          <a:bodyPr/>
          <a:lstStyle/>
          <a:p>
            <a:r>
              <a:rPr lang="en-IN" b="1" dirty="0"/>
              <a:t>Conclusion:</a:t>
            </a:r>
          </a:p>
        </p:txBody>
      </p:sp>
      <p:sp>
        <p:nvSpPr>
          <p:cNvPr id="3" name="Content Placeholder 2">
            <a:extLst>
              <a:ext uri="{FF2B5EF4-FFF2-40B4-BE49-F238E27FC236}">
                <a16:creationId xmlns:a16="http://schemas.microsoft.com/office/drawing/2014/main" id="{1BEB8783-57E4-A6A2-D631-B2DECC941FB6}"/>
              </a:ext>
            </a:extLst>
          </p:cNvPr>
          <p:cNvSpPr>
            <a:spLocks noGrp="1"/>
          </p:cNvSpPr>
          <p:nvPr>
            <p:ph idx="1"/>
          </p:nvPr>
        </p:nvSpPr>
        <p:spPr>
          <a:xfrm>
            <a:off x="1187532" y="1973180"/>
            <a:ext cx="9749173" cy="3657600"/>
          </a:xfrm>
        </p:spPr>
        <p:txBody>
          <a:bodyPr>
            <a:normAutofit fontScale="92500" lnSpcReduction="10000"/>
          </a:bodyPr>
          <a:lstStyle/>
          <a:p>
            <a:pPr marL="0" indent="0">
              <a:buNone/>
            </a:pPr>
            <a:r>
              <a:rPr lang="en-GB" sz="2400" dirty="0"/>
              <a:t>The Financial Fraud Detection System demonstrates how machine learning can be used to identify fraudulent financial transactions effectively. The system analyses transaction details such as transaction type, amount, and account balances to detect suspicious patterns. It provides real-time predictions to classify transactions as fraudulent or legitimate through an interactive interface developed using Streamlit. Additionally, the system supports multi-currency transactions by converting different currencies into Indian Rupees before analysis. Overall, this project shows that machine learning can improve the efficiency and accuracy of fraud detection, helping enhance security and reduce financial risks in digital financial systems.</a:t>
            </a:r>
            <a:endParaRPr lang="en-IN" sz="2400" dirty="0"/>
          </a:p>
        </p:txBody>
      </p:sp>
    </p:spTree>
    <p:extLst>
      <p:ext uri="{BB962C8B-B14F-4D97-AF65-F5344CB8AC3E}">
        <p14:creationId xmlns:p14="http://schemas.microsoft.com/office/powerpoint/2010/main" val="352118262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BACC050B-8757-4460-95D8-E37B46A6B421}"/>
    </a:ext>
  </a:extLst>
</a:theme>
</file>

<file path=docProps/app.xml><?xml version="1.0" encoding="utf-8"?>
<Properties xmlns="http://schemas.openxmlformats.org/officeDocument/2006/extended-properties" xmlns:vt="http://schemas.openxmlformats.org/officeDocument/2006/docPropsVTypes">
  <Template>Ion</Template>
  <TotalTime>184</TotalTime>
  <Words>1181</Words>
  <Application>Microsoft Office PowerPoint</Application>
  <PresentationFormat>Widescreen</PresentationFormat>
  <Paragraphs>109</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Century Gothic</vt:lpstr>
      <vt:lpstr>Wingdings</vt:lpstr>
      <vt:lpstr>Wingdings 3</vt:lpstr>
      <vt:lpstr>Ion</vt:lpstr>
      <vt:lpstr>NEXT GENERATION FINANCIAL THREAT DETECTION SYSTEM</vt:lpstr>
      <vt:lpstr>Table of contents</vt:lpstr>
      <vt:lpstr>Introduction</vt:lpstr>
      <vt:lpstr>Literature Survey</vt:lpstr>
      <vt:lpstr>Area &amp; Problem Statement:</vt:lpstr>
      <vt:lpstr>Aim &amp; Objectives</vt:lpstr>
      <vt:lpstr>Methodology</vt:lpstr>
      <vt:lpstr>System Architecture</vt:lpstr>
      <vt:lpstr>Implementation</vt:lpstr>
      <vt:lpstr>Technologies &amp; Algorithms Used</vt:lpstr>
      <vt:lpstr>Outcomes </vt:lpstr>
      <vt:lpstr>Results: Dashboard</vt:lpstr>
      <vt:lpstr>Graphs:</vt:lpstr>
      <vt:lpstr>Transaction Analysis:</vt:lpstr>
      <vt:lpstr>Instructions and Rules: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SUMA G</dc:creator>
  <cp:lastModifiedBy>SUMA G</cp:lastModifiedBy>
  <cp:revision>2</cp:revision>
  <dcterms:created xsi:type="dcterms:W3CDTF">2026-03-05T16:04:03Z</dcterms:created>
  <dcterms:modified xsi:type="dcterms:W3CDTF">2026-06-18T05:42:35Z</dcterms:modified>
</cp:coreProperties>
</file>